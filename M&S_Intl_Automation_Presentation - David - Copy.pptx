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86" r:id="rId3"/>
    <p:sldMasterId id="2147483688" r:id="rId4"/>
    <p:sldMasterId id="2147483689" r:id="rId5"/>
    <p:sldMasterId id="2147483690" r:id="rId6"/>
    <p:sldMasterId id="2147483691" r:id="rId7"/>
  </p:sldMasterIdLst>
  <p:notesMasterIdLst>
    <p:notesMasterId r:id="rId14"/>
  </p:notesMasterIdLst>
  <p:sldIdLst>
    <p:sldId id="256" r:id="rId8"/>
    <p:sldId id="270" r:id="rId9"/>
    <p:sldId id="261" r:id="rId10"/>
    <p:sldId id="273" r:id="rId11"/>
    <p:sldId id="265" r:id="rId12"/>
    <p:sldId id="262" r:id="rId1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E3C0B-CFF3-4652-B98C-548DF15D4731}" v="243" dt="2024-09-12T12:20:08.043"/>
    <p1510:client id="{DE7430DB-728E-DC03-82E2-18E3A5823DE7}" v="3" dt="2024-09-12T12:23:33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adoss, Srisanthinathan" userId="1f03fa62-e2dd-42c4-8c88-0e61d45b1a5c" providerId="ADAL" clId="{C71E3C0B-CFF3-4652-B98C-548DF15D4731}"/>
    <pc:docChg chg="undo custSel modSld">
      <pc:chgData name="Ajithadoss, Srisanthinathan" userId="1f03fa62-e2dd-42c4-8c88-0e61d45b1a5c" providerId="ADAL" clId="{C71E3C0B-CFF3-4652-B98C-548DF15D4731}" dt="2024-09-12T12:21:07.150" v="360" actId="1076"/>
      <pc:docMkLst>
        <pc:docMk/>
      </pc:docMkLst>
      <pc:sldChg chg="addSp delSp modSp mod">
        <pc:chgData name="Ajithadoss, Srisanthinathan" userId="1f03fa62-e2dd-42c4-8c88-0e61d45b1a5c" providerId="ADAL" clId="{C71E3C0B-CFF3-4652-B98C-548DF15D4731}" dt="2024-09-12T12:21:07.150" v="360" actId="1076"/>
        <pc:sldMkLst>
          <pc:docMk/>
          <pc:sldMk cId="212760486" sldId="264"/>
        </pc:sldMkLst>
        <pc:spChg chg="add mod">
          <ac:chgData name="Ajithadoss, Srisanthinathan" userId="1f03fa62-e2dd-42c4-8c88-0e61d45b1a5c" providerId="ADAL" clId="{C71E3C0B-CFF3-4652-B98C-548DF15D4731}" dt="2024-09-12T12:20:24.211" v="358" actId="5793"/>
          <ac:spMkLst>
            <pc:docMk/>
            <pc:sldMk cId="212760486" sldId="264"/>
            <ac:spMk id="4" creationId="{494E1B73-BCB2-6B38-13ED-3E8E3977DFF0}"/>
          </ac:spMkLst>
        </pc:spChg>
        <pc:spChg chg="add del mod">
          <ac:chgData name="Ajithadoss, Srisanthinathan" userId="1f03fa62-e2dd-42c4-8c88-0e61d45b1a5c" providerId="ADAL" clId="{C71E3C0B-CFF3-4652-B98C-548DF15D4731}" dt="2024-09-12T12:20:05.962" v="314" actId="21"/>
          <ac:spMkLst>
            <pc:docMk/>
            <pc:sldMk cId="212760486" sldId="264"/>
            <ac:spMk id="298" creationId="{00000000-0000-0000-0000-000000000000}"/>
          </ac:spMkLst>
        </pc:spChg>
        <pc:graphicFrameChg chg="add mod modGraphic">
          <ac:chgData name="Ajithadoss, Srisanthinathan" userId="1f03fa62-e2dd-42c4-8c88-0e61d45b1a5c" providerId="ADAL" clId="{C71E3C0B-CFF3-4652-B98C-548DF15D4731}" dt="2024-09-12T12:19:50.450" v="310" actId="1076"/>
          <ac:graphicFrameMkLst>
            <pc:docMk/>
            <pc:sldMk cId="212760486" sldId="264"/>
            <ac:graphicFrameMk id="2" creationId="{EC9D6529-5D80-A0F0-930D-02292700A025}"/>
          </ac:graphicFrameMkLst>
        </pc:graphicFrameChg>
        <pc:picChg chg="mod">
          <ac:chgData name="Ajithadoss, Srisanthinathan" userId="1f03fa62-e2dd-42c4-8c88-0e61d45b1a5c" providerId="ADAL" clId="{C71E3C0B-CFF3-4652-B98C-548DF15D4731}" dt="2024-09-12T12:20:36.910" v="359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Ajithadoss, Srisanthinathan" userId="1f03fa62-e2dd-42c4-8c88-0e61d45b1a5c" providerId="ADAL" clId="{C71E3C0B-CFF3-4652-B98C-548DF15D4731}" dt="2024-09-12T12:18:56.125" v="303" actId="14100"/>
          <ac:picMkLst>
            <pc:docMk/>
            <pc:sldMk cId="212760486" sldId="264"/>
            <ac:picMk id="5" creationId="{F86C146F-CAA6-FCFB-7B7E-9D803EED39F6}"/>
          </ac:picMkLst>
        </pc:picChg>
        <pc:picChg chg="mod">
          <ac:chgData name="Ajithadoss, Srisanthinathan" userId="1f03fa62-e2dd-42c4-8c88-0e61d45b1a5c" providerId="ADAL" clId="{C71E3C0B-CFF3-4652-B98C-548DF15D4731}" dt="2024-09-12T12:21:07.150" v="360" actId="1076"/>
          <ac:picMkLst>
            <pc:docMk/>
            <pc:sldMk cId="212760486" sldId="264"/>
            <ac:picMk id="7" creationId="{796BBC8C-E3A4-F8F0-A60D-5A82F8CD3FAB}"/>
          </ac:picMkLst>
        </pc:picChg>
      </pc:sldChg>
    </pc:docChg>
  </pc:docChgLst>
  <pc:docChgLst>
    <pc:chgData name="S, Sinduja" userId="S::sinduja.s@mnscorp.net::9d09c272-5155-40a5-9592-78092a615beb" providerId="AD" clId="Web-{DE7430DB-728E-DC03-82E2-18E3A5823DE7}"/>
    <pc:docChg chg="modSld">
      <pc:chgData name="S, Sinduja" userId="S::sinduja.s@mnscorp.net::9d09c272-5155-40a5-9592-78092a615beb" providerId="AD" clId="Web-{DE7430DB-728E-DC03-82E2-18E3A5823DE7}" dt="2024-09-12T12:23:33.389" v="2" actId="14100"/>
      <pc:docMkLst>
        <pc:docMk/>
      </pc:docMkLst>
      <pc:sldChg chg="modSp">
        <pc:chgData name="S, Sinduja" userId="S::sinduja.s@mnscorp.net::9d09c272-5155-40a5-9592-78092a615beb" providerId="AD" clId="Web-{DE7430DB-728E-DC03-82E2-18E3A5823DE7}" dt="2024-09-12T12:23:33.389" v="2" actId="14100"/>
        <pc:sldMkLst>
          <pc:docMk/>
          <pc:sldMk cId="212760486" sldId="264"/>
        </pc:sldMkLst>
        <pc:picChg chg="mod">
          <ac:chgData name="S, Sinduja" userId="S::sinduja.s@mnscorp.net::9d09c272-5155-40a5-9592-78092a615beb" providerId="AD" clId="Web-{DE7430DB-728E-DC03-82E2-18E3A5823DE7}" dt="2024-09-12T12:23:33.389" v="2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S, Sinduja" userId="S::sinduja.s@mnscorp.net::9d09c272-5155-40a5-9592-78092a615beb" providerId="AD" clId="Web-{DE7430DB-728E-DC03-82E2-18E3A5823DE7}" dt="2024-09-12T12:23:27.123" v="1" actId="1076"/>
          <ac:picMkLst>
            <pc:docMk/>
            <pc:sldMk cId="212760486" sldId="264"/>
            <ac:picMk id="5" creationId="{F86C146F-CAA6-FCFB-7B7E-9D803EED39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dt" idx="1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33BE61-09CC-4B4D-85FB-C3AA78C4317C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3" name="PlaceHolder 6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8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9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10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6EB090-5515-4503-BAB2-6B73940D1830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11"/>
          <p:cNvSpPr>
            <a:spLocks noGrp="1"/>
          </p:cNvSpPr>
          <p:nvPr>
            <p:ph type="ftr" idx="5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12"/>
          <p:cNvSpPr>
            <a:spLocks noGrp="1"/>
          </p:cNvSpPr>
          <p:nvPr>
            <p:ph type="sldNum" idx="6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94971D-932F-400D-BC50-3504E951712A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13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14"/>
          <p:cNvSpPr>
            <a:spLocks noGrp="1"/>
          </p:cNvSpPr>
          <p:nvPr>
            <p:ph type="dt" idx="7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030239-436D-42FA-8D3F-35A0B4BDBB4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15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3" name="PlaceHolder 16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7"/>
          <p:cNvSpPr>
            <a:spLocks noGrp="1"/>
          </p:cNvSpPr>
          <p:nvPr>
            <p:ph type="ftr" idx="8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18"/>
          <p:cNvSpPr>
            <a:spLocks noGrp="1"/>
          </p:cNvSpPr>
          <p:nvPr>
            <p:ph type="sldNum" idx="9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A337B4-B6F2-4975-98E3-88608CDA62E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19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20"/>
          <p:cNvSpPr>
            <a:spLocks noGrp="1"/>
          </p:cNvSpPr>
          <p:nvPr>
            <p:ph type="dt" idx="10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33188E-BFC5-4530-8A01-01974AD1DE76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2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9" name="PlaceHolder 2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3"/>
          <p:cNvSpPr>
            <a:spLocks noGrp="1"/>
          </p:cNvSpPr>
          <p:nvPr>
            <p:ph type="ftr" idx="11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24"/>
          <p:cNvSpPr>
            <a:spLocks noGrp="1"/>
          </p:cNvSpPr>
          <p:nvPr>
            <p:ph type="sldNum" idx="12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20AC4A-ACBF-4177-B250-D4298AB490B3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25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26"/>
          <p:cNvSpPr>
            <a:spLocks noGrp="1"/>
          </p:cNvSpPr>
          <p:nvPr>
            <p:ph type="dt" idx="13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3FA1C6-6DB7-4067-8DFE-34043E183175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27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75" name="PlaceHolder 28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9"/>
          <p:cNvSpPr>
            <a:spLocks noGrp="1"/>
          </p:cNvSpPr>
          <p:nvPr>
            <p:ph type="ftr" idx="14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0"/>
          <p:cNvSpPr>
            <a:spLocks noGrp="1"/>
          </p:cNvSpPr>
          <p:nvPr>
            <p:ph type="sldNum" idx="15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06A608-1D46-480C-A913-0D8462940A4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900D828C-42E7-4AA7-88A5-80DA725A2C2A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B0DE14B-0C8E-4701-BF93-8CBD81AA033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A6EC189-C0C5-4C3A-9D0D-49B382C6BD53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425A-6B1A-94A3-4142-8AC5FACB9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AF2837DE-A98A-EB2B-4F68-44BADD78A1BC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0672EEC5-4B3C-CED6-BBEE-4493ADE15156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63A902A7-AAEE-EBE6-2B80-46135BF264DF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71E1A067-CB37-4A42-C293-793BCD5AE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59447994-70D7-9361-D01D-D83720B7808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556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32E0-2820-EC75-166C-B380C35B8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>
            <a:extLst>
              <a:ext uri="{FF2B5EF4-FFF2-40B4-BE49-F238E27FC236}">
                <a16:creationId xmlns:a16="http://schemas.microsoft.com/office/drawing/2014/main" id="{A606BD7A-F503-A3B7-5958-5B1E4C89B0E3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>
            <a:extLst>
              <a:ext uri="{FF2B5EF4-FFF2-40B4-BE49-F238E27FC236}">
                <a16:creationId xmlns:a16="http://schemas.microsoft.com/office/drawing/2014/main" id="{B86538FB-CFEA-DF73-B3D3-1096DB1E7A0E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>
            <a:extLst>
              <a:ext uri="{FF2B5EF4-FFF2-40B4-BE49-F238E27FC236}">
                <a16:creationId xmlns:a16="http://schemas.microsoft.com/office/drawing/2014/main" id="{7A4302D7-3B95-3A55-3CE0-E17F52EE8871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>
            <a:extLst>
              <a:ext uri="{FF2B5EF4-FFF2-40B4-BE49-F238E27FC236}">
                <a16:creationId xmlns:a16="http://schemas.microsoft.com/office/drawing/2014/main" id="{14BC5B73-E8F6-DD6C-F7C7-84D866D9C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>
            <a:extLst>
              <a:ext uri="{FF2B5EF4-FFF2-40B4-BE49-F238E27FC236}">
                <a16:creationId xmlns:a16="http://schemas.microsoft.com/office/drawing/2014/main" id="{7909ADFE-983C-6272-0400-A3EC512268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6878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6B19-465C-4E6D-979B-4A7A3E02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>
            <a:extLst>
              <a:ext uri="{FF2B5EF4-FFF2-40B4-BE49-F238E27FC236}">
                <a16:creationId xmlns:a16="http://schemas.microsoft.com/office/drawing/2014/main" id="{11EC905B-3322-93B4-3E8C-DAA3D0BAB413}"/>
              </a:ext>
            </a:extLst>
          </p:cNvPr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>
            <a:extLst>
              <a:ext uri="{FF2B5EF4-FFF2-40B4-BE49-F238E27FC236}">
                <a16:creationId xmlns:a16="http://schemas.microsoft.com/office/drawing/2014/main" id="{21129545-44E0-D48A-EA0D-A3A7FDDFD8F9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>
            <a:extLst>
              <a:ext uri="{FF2B5EF4-FFF2-40B4-BE49-F238E27FC236}">
                <a16:creationId xmlns:a16="http://schemas.microsoft.com/office/drawing/2014/main" id="{1378206A-B251-0B93-25CC-BBCB5D477105}"/>
              </a:ext>
            </a:extLst>
          </p:cNvPr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>
            <a:extLst>
              <a:ext uri="{FF2B5EF4-FFF2-40B4-BE49-F238E27FC236}">
                <a16:creationId xmlns:a16="http://schemas.microsoft.com/office/drawing/2014/main" id="{2DF335A4-5237-DC10-60B4-57C8F4082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66D2B7ED-B280-C71B-6CCF-397C1FFA20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8977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5DF97C86-0A04-4EAB-9235-384698670C1D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4/23/2025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36990092-6831-4565-8DFC-B750641B1AF9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11DCEDB-33D8-491F-84A0-F387E5DFD1A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2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BAF4-A23D-3EF7-FEF9-DF365A1C1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7E239-FBE3-3388-F936-C28B9A3E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504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F211-C8BC-B937-3456-48E608F77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D96B4-95C2-2D57-5AB0-712AD32D9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17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ACE3-FD49-3337-D200-77E76066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D53E-00B2-3EA5-5E57-84255C436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021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2450-9C68-6EA6-2E46-EB53980C5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4DA75-BBD0-1E4D-2B34-4C08D57D7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458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1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F542A4F3-0EE9-4504-A7E6-2498B081CE9C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the title text formatClick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 fontScale="68743"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the outline text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56000" lvl="7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Eighth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888000" lvl="8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Ninth Outline LevelEdit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73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8BEDF1CC-3130-42E7-ACEA-EEEFE2AC0D10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9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392EFEAF-0095-461A-AE34-DBDA2F9BF995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0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620F0CF7-0818-4AF2-9BB8-999720C7317F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lvl="1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lvl="3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lvl="4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18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DA6C4910-2526-41BA-80C2-094E0644BA78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2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95BC6D22-9838-4B8E-84B6-BF18C33D6A6A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3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75268E13-0223-4ACC-A782-D08F2FC33944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975880" y="60480"/>
            <a:ext cx="284940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22280" y="60480"/>
            <a:ext cx="840096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Content Placeholder 5"/>
          <p:cNvPicPr/>
          <p:nvPr/>
        </p:nvPicPr>
        <p:blipFill>
          <a:blip r:embed="rId3"/>
          <a:stretch/>
        </p:blipFill>
        <p:spPr>
          <a:xfrm>
            <a:off x="5917325" y="715680"/>
            <a:ext cx="6111765" cy="5218560"/>
          </a:xfrm>
          <a:prstGeom prst="rect">
            <a:avLst/>
          </a:prstGeom>
          <a:ln w="12600">
            <a:noFill/>
          </a:ln>
        </p:spPr>
      </p:pic>
      <p:sp>
        <p:nvSpPr>
          <p:cNvPr id="279" name="TextBox 4"/>
          <p:cNvSpPr/>
          <p:nvPr/>
        </p:nvSpPr>
        <p:spPr>
          <a:xfrm>
            <a:off x="583325" y="2743201"/>
            <a:ext cx="5192111" cy="2062103"/>
          </a:xfrm>
          <a:custGeom>
            <a:avLst/>
            <a:gdLst>
              <a:gd name="textAreaLeft" fmla="*/ 0 w 3977280"/>
              <a:gd name="textAreaRight" fmla="*/ 3977640 w 3977280"/>
              <a:gd name="textAreaTop" fmla="*/ 0 h 1313280"/>
              <a:gd name="textAreaBottom" fmla="*/ 1313640 h 131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M&amp;S Intl Pricing UI Automation:                         Insights, and Demo</a:t>
            </a:r>
          </a:p>
          <a:p>
            <a:r>
              <a:rPr lang="en-US" sz="3200" dirty="0">
                <a:effectLst/>
                <a:latin typeface="-apple-system"/>
              </a:rPr>
              <a:t> 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EA5DB-9742-3826-7F6C-0DDD06A4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>
            <a:extLst>
              <a:ext uri="{FF2B5EF4-FFF2-40B4-BE49-F238E27FC236}">
                <a16:creationId xmlns:a16="http://schemas.microsoft.com/office/drawing/2014/main" id="{FD587B76-61F4-9429-F257-31E58A42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20" y="6165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Microsoft YaHei"/>
              </a:rPr>
              <a:t>Pricing - </a:t>
            </a: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  <a:cs typeface="+mj-cs"/>
              </a:rPr>
              <a:t>Background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>
            <a:extLst>
              <a:ext uri="{FF2B5EF4-FFF2-40B4-BE49-F238E27FC236}">
                <a16:creationId xmlns:a16="http://schemas.microsoft.com/office/drawing/2014/main" id="{49EDA215-A59A-C702-4CC5-4BD671C6356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85920" y="648354"/>
            <a:ext cx="11405880" cy="2843119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Earlier Setup: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 was already in place for the pricing module.</a:t>
            </a: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What Changed: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new UI for Pricing was developed by the Dev team.</a:t>
            </a:r>
          </a:p>
          <a:p>
            <a:pPr marL="284163"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Initiative: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Last quarter, we started fresh UI automation reusing the existing International automation framework.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spcBef>
                <a:spcPts val="750"/>
              </a:spcBef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750"/>
              </a:spcBef>
            </a:pPr>
            <a:endParaRPr lang="en-US" sz="1800" b="1" i="0" dirty="0">
              <a:solidFill>
                <a:srgbClr val="172B4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750"/>
              </a:spcBef>
              <a:spcAft>
                <a:spcPts val="600"/>
              </a:spcAft>
              <a:buNone/>
            </a:pPr>
            <a:endParaRPr lang="en-US" sz="16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4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1E2B2CC9-7243-50D2-F6CE-60EFFE2FB320}"/>
              </a:ext>
            </a:extLst>
          </p:cNvPr>
          <p:cNvSpPr txBox="1">
            <a:spLocks/>
          </p:cNvSpPr>
          <p:nvPr/>
        </p:nvSpPr>
        <p:spPr>
          <a:xfrm>
            <a:off x="385920" y="3353741"/>
            <a:ext cx="11403360" cy="709448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Scope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195F0739-666F-89BF-6B43-928D26652EFC}"/>
              </a:ext>
            </a:extLst>
          </p:cNvPr>
          <p:cNvSpPr txBox="1">
            <a:spLocks/>
          </p:cNvSpPr>
          <p:nvPr/>
        </p:nvSpPr>
        <p:spPr>
          <a:xfrm>
            <a:off x="385920" y="3942401"/>
            <a:ext cx="11405880" cy="2843119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UI Regression Test cases for Pricing.</a:t>
            </a:r>
          </a:p>
          <a:p>
            <a:pPr marL="0" lvl="1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Benefits: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execution time from 2 days to 20 minutes.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faster feedback cycle and improved QA efficiency.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test coverage for UI workflows.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ctr">
              <a:buFont typeface="Arial" panose="020B0604020202020204" pitchFamily="34" charset="0"/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Arial" panose="020B0604020202020204" pitchFamily="34" charset="0"/>
              <a:buNone/>
            </a:pPr>
            <a:r>
              <a:rPr lang="en-US" sz="1400" b="1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Font typeface="Arial" panose="020B0604020202020204" pitchFamily="34" charset="0"/>
              <a:buNone/>
            </a:pPr>
            <a:r>
              <a:rPr lang="en-US" sz="1400" b="1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08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21560" y="141890"/>
            <a:ext cx="11403360" cy="709448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Tech Stack</a:t>
            </a:r>
            <a:br>
              <a:rPr lang="en-US" sz="3200" b="0" i="0" dirty="0">
                <a:solidFill>
                  <a:srgbClr val="172B4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00260" y="1117142"/>
            <a:ext cx="11391480" cy="200443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25000" lnSpcReduction="20000"/>
          </a:bodyPr>
          <a:lstStyle/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Tool: 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7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Framework: </a:t>
            </a:r>
            <a:r>
              <a:rPr lang="en-US" sz="7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 </a:t>
            </a:r>
          </a:p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Language:</a:t>
            </a:r>
            <a:r>
              <a:rPr lang="en-US" sz="7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Java</a:t>
            </a:r>
          </a:p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Queries:</a:t>
            </a:r>
            <a:r>
              <a:rPr lang="en-US" sz="7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MongoDB and SQL</a:t>
            </a:r>
          </a:p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</a:t>
            </a:r>
            <a:r>
              <a:rPr lang="en-US" sz="7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Extent Reports</a:t>
            </a:r>
          </a:p>
          <a:p>
            <a:pPr lvl="1">
              <a:spcBef>
                <a:spcPts val="750"/>
              </a:spcBef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Automation Tool: 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Maven</a:t>
            </a:r>
          </a:p>
          <a:p>
            <a:pPr lvl="1">
              <a:lnSpc>
                <a:spcPct val="110000"/>
              </a:lnSpc>
              <a:spcBef>
                <a:spcPts val="750"/>
              </a:spcBef>
            </a:pP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750"/>
              </a:spcBef>
              <a:buNone/>
            </a:pPr>
            <a:endParaRPr lang="en-US" sz="64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endParaRPr lang="en-US" sz="6400" b="0" strike="noStrike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     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Verdana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81F3F-CDF8-7278-17B7-6E2480DF888C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76BBF58C-59B3-13EF-5E28-632AFD09249A}"/>
              </a:ext>
            </a:extLst>
          </p:cNvPr>
          <p:cNvSpPr txBox="1">
            <a:spLocks/>
          </p:cNvSpPr>
          <p:nvPr/>
        </p:nvSpPr>
        <p:spPr>
          <a:xfrm>
            <a:off x="400260" y="3037135"/>
            <a:ext cx="11403360" cy="643157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568325" algn="l"/>
              </a:tabLst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Highlights</a:t>
            </a:r>
          </a:p>
          <a:p>
            <a:pPr marL="914400">
              <a:lnSpc>
                <a:spcPct val="100000"/>
              </a:lnSpc>
              <a:tabLst>
                <a:tab pos="568325" algn="l"/>
              </a:tabLst>
            </a:pPr>
            <a:endParaRPr lang="en-US" sz="3200" spc="-1" dirty="0">
              <a:solidFill>
                <a:srgbClr val="007DC5"/>
              </a:solidFill>
              <a:latin typeface="Calibri"/>
              <a:ea typeface="Calibri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tabLst>
                <a:tab pos="568325" algn="l"/>
              </a:tabLst>
            </a:pPr>
            <a:endParaRPr lang="en-US" sz="32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45720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EA4573F8-6535-88F9-4F5F-700B67328B64}"/>
              </a:ext>
            </a:extLst>
          </p:cNvPr>
          <p:cNvSpPr txBox="1">
            <a:spLocks/>
          </p:cNvSpPr>
          <p:nvPr/>
        </p:nvSpPr>
        <p:spPr>
          <a:xfrm>
            <a:off x="400260" y="3763059"/>
            <a:ext cx="11405880" cy="3005604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Reused existing IBT automation framework.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parallel execution for faster runs.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UI validations with Mongo DB and SQL data checks.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‘Extent Reporting’ in the framework for detailed logs and step-by-step screenshots.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CI/CD using GitHub Actions and Secrets.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Continued team training on Cucumber, Selenium and advance automation scenarios to enhance skills and maintain high-quality test automation.</a:t>
            </a:r>
          </a:p>
          <a:p>
            <a:pPr marL="457200" lvl="1" indent="0">
              <a:lnSpc>
                <a:spcPct val="110000"/>
              </a:lnSpc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B7728-454B-BD7D-36A8-190CE6874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CF654F00-BB16-55CB-32A9-3EB4792E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0" y="141890"/>
            <a:ext cx="11403360" cy="709448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Summary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E7F8A463-8B98-D3A9-0FD0-D6E2F70CE44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0260" y="1117142"/>
            <a:ext cx="11391480" cy="1373202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25000" lnSpcReduction="20000"/>
          </a:bodyPr>
          <a:lstStyle/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Timeline: </a:t>
            </a:r>
            <a:r>
              <a:rPr lang="en-US" sz="72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automation was implemented in the last quarter.</a:t>
            </a:r>
          </a:p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Scenarios: </a:t>
            </a:r>
            <a:r>
              <a:rPr lang="en-US" sz="72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(Grouped as 15 Test cases)</a:t>
            </a:r>
          </a:p>
          <a:p>
            <a:pPr lvl="1">
              <a:spcBef>
                <a:spcPts val="750"/>
              </a:spcBef>
            </a:pPr>
            <a:r>
              <a:rPr lang="en-US" sz="7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Execution Time Reduced: From 2 days to ~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 minutes</a:t>
            </a:r>
            <a:endParaRPr lang="en-US" sz="7200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750"/>
              </a:spcBef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Reusable and maintainable framework for future enhancements.</a:t>
            </a:r>
          </a:p>
          <a:p>
            <a:pPr marL="457200" lvl="1" indent="0">
              <a:spcBef>
                <a:spcPts val="750"/>
              </a:spcBef>
              <a:buNone/>
            </a:pPr>
            <a:endParaRPr lang="en-US" sz="64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endParaRPr lang="en-US" sz="6400" b="0" strike="noStrike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     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Verdana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B81B1-12C5-F9DC-8508-07F52D343BA6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D950E829-80EE-0BD9-217E-CB8078A8146E}"/>
              </a:ext>
            </a:extLst>
          </p:cNvPr>
          <p:cNvSpPr txBox="1">
            <a:spLocks/>
          </p:cNvSpPr>
          <p:nvPr/>
        </p:nvSpPr>
        <p:spPr>
          <a:xfrm>
            <a:off x="509934" y="2619801"/>
            <a:ext cx="11403360" cy="643157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568325" algn="l"/>
              </a:tabLst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Calibri"/>
              </a:rPr>
              <a:t>Next Steps</a:t>
            </a:r>
          </a:p>
          <a:p>
            <a:pPr marL="914400">
              <a:lnSpc>
                <a:spcPct val="100000"/>
              </a:lnSpc>
              <a:tabLst>
                <a:tab pos="568325" algn="l"/>
              </a:tabLst>
            </a:pPr>
            <a:endParaRPr lang="en-US" sz="3200" spc="-1" dirty="0">
              <a:solidFill>
                <a:srgbClr val="007DC5"/>
              </a:solidFill>
              <a:latin typeface="Calibri"/>
              <a:ea typeface="Calibri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tabLst>
                <a:tab pos="568325" algn="l"/>
              </a:tabLst>
            </a:pPr>
            <a:endParaRPr lang="en-US" sz="3200" dirty="0">
              <a:solidFill>
                <a:srgbClr val="172B4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45720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 marL="548640"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>
            <a:extLst>
              <a:ext uri="{FF2B5EF4-FFF2-40B4-BE49-F238E27FC236}">
                <a16:creationId xmlns:a16="http://schemas.microsoft.com/office/drawing/2014/main" id="{6FF3EC56-3D09-1CFA-EB42-FD3AE1C936C0}"/>
              </a:ext>
            </a:extLst>
          </p:cNvPr>
          <p:cNvSpPr txBox="1">
            <a:spLocks/>
          </p:cNvSpPr>
          <p:nvPr/>
        </p:nvSpPr>
        <p:spPr>
          <a:xfrm>
            <a:off x="689194" y="3393632"/>
            <a:ext cx="11405880" cy="3005604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spcBef>
                <a:spcPts val="75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more test scenarios for new feature/functionality addition.</a:t>
            </a:r>
          </a:p>
          <a:p>
            <a:pPr marL="285750" lvl="1" indent="-285750">
              <a:spcBef>
                <a:spcPts val="75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 regular regression runs and </a:t>
            </a:r>
            <a:r>
              <a:rPr lang="en-US" sz="18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8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aintain the automation suite for UI changes.</a:t>
            </a:r>
            <a:r>
              <a:rPr lang="en-US" sz="1800" dirty="0">
                <a:solidFill>
                  <a:srgbClr val="172B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53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0636E-B7B1-4190-91A5-1D1FFF32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2">
            <a:extLst>
              <a:ext uri="{FF2B5EF4-FFF2-40B4-BE49-F238E27FC236}">
                <a16:creationId xmlns:a16="http://schemas.microsoft.com/office/drawing/2014/main" id="{65A731E0-5DCE-5776-581F-417A873EE7D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1560" y="924840"/>
            <a:ext cx="11405880" cy="527328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/>
          </a:bodyPr>
          <a:lstStyle/>
          <a:p>
            <a:pPr lvl="8" indent="0">
              <a:lnSpc>
                <a:spcPct val="100000"/>
              </a:lnSpc>
              <a:spcBef>
                <a:spcPct val="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dirty="0">
              <a:solidFill>
                <a:srgbClr val="172B4D"/>
              </a:solidFill>
              <a:latin typeface="-apple-system"/>
            </a:endParaRPr>
          </a:p>
          <a:p>
            <a:pPr lvl="8" indent="0">
              <a:lnSpc>
                <a:spcPct val="100000"/>
              </a:lnSpc>
              <a:spcBef>
                <a:spcPct val="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US" sz="3200" spc="-1" dirty="0">
              <a:solidFill>
                <a:srgbClr val="172B4D"/>
              </a:solidFill>
              <a:latin typeface="-apple-system"/>
              <a:ea typeface="Calibri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A7DBD-4C6C-6143-A981-85A47B85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76" y="1140908"/>
            <a:ext cx="7567448" cy="457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8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85000" lnSpcReduction="20000"/>
          </a:bodyPr>
          <a:lstStyle/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4978800" y="3178800"/>
            <a:ext cx="2627640" cy="579240"/>
          </a:xfrm>
          <a:custGeom>
            <a:avLst/>
            <a:gdLst>
              <a:gd name="textAreaLeft" fmla="*/ 0 w 2627640"/>
              <a:gd name="textAreaRight" fmla="*/ 2628000 w 2627640"/>
              <a:gd name="textAreaTop" fmla="*/ 0 h 579240"/>
              <a:gd name="textAreaBottom" fmla="*/ 579600 h 579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Picture 315"/>
          <p:cNvPicPr/>
          <p:nvPr/>
        </p:nvPicPr>
        <p:blipFill>
          <a:blip r:embed="rId3"/>
          <a:stretch/>
        </p:blipFill>
        <p:spPr>
          <a:xfrm>
            <a:off x="487680" y="340200"/>
            <a:ext cx="3840480" cy="2194560"/>
          </a:xfrm>
          <a:prstGeom prst="rect">
            <a:avLst/>
          </a:prstGeom>
          <a:ln w="12600">
            <a:noFill/>
          </a:ln>
        </p:spPr>
      </p:pic>
      <p:pic>
        <p:nvPicPr>
          <p:cNvPr id="317" name="Picture 316"/>
          <p:cNvPicPr/>
          <p:nvPr/>
        </p:nvPicPr>
        <p:blipFill>
          <a:blip r:embed="rId4"/>
          <a:stretch/>
        </p:blipFill>
        <p:spPr>
          <a:xfrm>
            <a:off x="6703920" y="2501640"/>
            <a:ext cx="5000400" cy="353340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1812</TotalTime>
  <Words>343</Words>
  <Application>Microsoft Office PowerPoint</Application>
  <PresentationFormat>Widescreen</PresentationFormat>
  <Paragraphs>151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-apple-system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Pricing - Background</vt:lpstr>
      <vt:lpstr>Tech Stack 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Sinduja S</dc:creator>
  <cp:lastModifiedBy>S, Sinduja</cp:lastModifiedBy>
  <cp:revision>53</cp:revision>
  <dcterms:modified xsi:type="dcterms:W3CDTF">2025-04-23T09:56:28Z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sinduja s</cp:lastModifiedBy>
  <dcterms:modified xsi:type="dcterms:W3CDTF">2024-09-03T12:33:11Z</dcterms:modified>
  <cp:revision>21</cp:revision>
  <dc:subject/>
  <dc:title>PowerPoint Presentation</dc:title>
</cp:coreProperties>
</file>